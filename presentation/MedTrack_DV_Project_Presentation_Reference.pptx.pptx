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8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0520" y="320040"/>
            <a:ext cx="4617720" cy="3962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  <a:p>
            <a:pPr algn="ctr"/>
            <a:r>
              <a:rPr lang="en-US" sz="1600" b="1" dirty="0" err="1"/>
              <a:t>MedTrack</a:t>
            </a:r>
            <a:r>
              <a:rPr lang="en-US" sz="1600" b="1" dirty="0"/>
              <a:t> DV – Project Presentation Reference</a:t>
            </a:r>
          </a:p>
          <a:p>
            <a:pPr algn="ctr"/>
            <a:endParaRPr sz="1100" b="1" dirty="0">
              <a:solidFill>
                <a:srgbClr val="0C112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5F7FA"/>
                </a:solidFill>
                <a:latin typeface="Aptos Display"/>
              </a:rPr>
              <a:t>MedTrack 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4FC3F7"/>
                </a:solidFill>
              </a:rPr>
              <a:t>Healthcare Operations &amp; Patient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Interactive Power BI dashboard for hospital operations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Patient flow, department performance and resource utilization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Built with Excel, Power Query and DAX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3657600"/>
            <a:ext cx="283464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3657600"/>
            <a:ext cx="54864" cy="1143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59" y="382219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431596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Total Admissions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937760"/>
            <a:ext cx="283464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4937760"/>
            <a:ext cx="54864" cy="1143000"/>
          </a:xfrm>
          <a:prstGeom prst="rect">
            <a:avLst/>
          </a:prstGeom>
          <a:solidFill>
            <a:srgbClr val="B8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51023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27.0%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55961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Readmission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5F7FA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623" y="1372041"/>
            <a:ext cx="71109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>
                <a:solidFill>
                  <a:srgbClr val="B1B9CA"/>
                </a:solidFill>
                <a:latin typeface="Aptos"/>
              </a:rPr>
              <a:t>Problem → solution → proof →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623" y="2414457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F5F7FA"/>
                </a:solidFill>
                <a:latin typeface="Aptos"/>
              </a:defRPr>
            </a:pPr>
            <a:r>
              <a:rPr dirty="0"/>
              <a:t>• Problem &amp; objectives</a:t>
            </a:r>
          </a:p>
          <a:p>
            <a:pPr>
              <a:spcAft>
                <a:spcPts val="1000"/>
              </a:spcAft>
              <a:defRPr sz="2500">
                <a:solidFill>
                  <a:srgbClr val="F5F7FA"/>
                </a:solidFill>
                <a:latin typeface="Aptos"/>
              </a:defRPr>
            </a:pPr>
            <a:r>
              <a:rPr dirty="0"/>
              <a:t>• Approach and technology</a:t>
            </a:r>
          </a:p>
          <a:p>
            <a:pPr>
              <a:spcAft>
                <a:spcPts val="1000"/>
              </a:spcAft>
              <a:defRPr sz="2500">
                <a:solidFill>
                  <a:srgbClr val="F5F7FA"/>
                </a:solidFill>
                <a:latin typeface="Aptos"/>
              </a:defRPr>
            </a:pPr>
            <a:r>
              <a:rPr dirty="0"/>
              <a:t>• Dashboard features &amp; key results</a:t>
            </a:r>
          </a:p>
          <a:p>
            <a:pPr>
              <a:spcAft>
                <a:spcPts val="1000"/>
              </a:spcAft>
              <a:defRPr sz="2500">
                <a:solidFill>
                  <a:srgbClr val="F5F7FA"/>
                </a:solidFill>
                <a:latin typeface="Aptos"/>
              </a:defRPr>
            </a:pPr>
            <a:r>
              <a:rPr dirty="0"/>
              <a:t>• Challenges,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5F7FA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Hospital data existed, but operational insights were difficult to obtain quickly.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FC3F7"/>
                </a:solidFill>
                <a:latin typeface="Aptos Display"/>
              </a:rPr>
              <a:t>Before MedTrack DV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56917"/>
            <a:ext cx="46177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Data spread across operational fields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Manual analysis slows decisions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Difficult to compare departments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Patient-flow patterns are harder to spot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B84DE6"/>
                </a:solidFill>
                <a:latin typeface="Aptos Display"/>
              </a:rPr>
              <a:t>Project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399" y="2756917"/>
            <a:ext cx="46177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Centralized analytical dashboard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Interactive filters and navigation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KPI-driven hospital monitoring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Department and resource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Objectives &amp;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What MedTrack DV was designed to deliver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FC3F7"/>
                </a:solidFill>
                <a:latin typeface="Aptos Display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1"/>
            <a:ext cx="46177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Monitor hospital performance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Analyze patient flow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Compare departments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Track bed/resource utilization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Support data-driven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B84DE6"/>
                </a:solidFill>
                <a:latin typeface="Aptos Display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99679"/>
            <a:ext cx="46177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4 integrated dashboards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6 core KPI measures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Interactive slicers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Page navigation + Help/About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Monthly and department trends</a:t>
            </a:r>
            <a:endParaRPr lang="en-US" dirty="0"/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Approach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Data in → cleaning → modeling → analysis → interactive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2880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SOURCE DATA</a:t>
            </a:r>
          </a:p>
          <a:p>
            <a:pPr algn="ctr"/>
            <a:r>
              <a:rPr sz="1000">
                <a:solidFill>
                  <a:srgbClr val="B1B9CA"/>
                </a:solidFill>
              </a:rPr>
              <a:t>Healthcare records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651760"/>
            <a:ext cx="45720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2103120"/>
            <a:ext cx="182880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CLEANING</a:t>
            </a:r>
          </a:p>
          <a:p>
            <a:pPr algn="ctr"/>
            <a:r>
              <a:rPr sz="1000">
                <a:solidFill>
                  <a:srgbClr val="B1B9CA"/>
                </a:solidFill>
              </a:rPr>
              <a:t>Excel / Power 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651760"/>
            <a:ext cx="45720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12080" y="2103120"/>
            <a:ext cx="182880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MODEL</a:t>
            </a:r>
          </a:p>
          <a:p>
            <a:pPr algn="ctr"/>
            <a:r>
              <a:rPr sz="1000">
                <a:solidFill>
                  <a:srgbClr val="B1B9CA"/>
                </a:solidFill>
              </a:rPr>
              <a:t>Power BI + DAX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0" y="2651760"/>
            <a:ext cx="457199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79" y="2103120"/>
            <a:ext cx="182880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ANALYSIS</a:t>
            </a:r>
          </a:p>
          <a:p>
            <a:pPr algn="ctr"/>
            <a:r>
              <a:rPr sz="1000">
                <a:solidFill>
                  <a:srgbClr val="B1B9CA"/>
                </a:solidFill>
              </a:rPr>
              <a:t>KPIs + visuals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2651760"/>
            <a:ext cx="45720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2103120"/>
            <a:ext cx="182880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B84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OUTPUT</a:t>
            </a:r>
          </a:p>
          <a:p>
            <a:pPr algn="ctr"/>
            <a:r>
              <a:rPr sz="1000">
                <a:solidFill>
                  <a:srgbClr val="B1B9CA"/>
                </a:solidFill>
              </a:rPr>
              <a:t>4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Core DAX measures drive reusable KPI cards and department comparisons.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Slicers support department, doctor, gender and date-range exploration.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Tools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A focused stack for the analytics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377440" cy="20116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FC3F7"/>
                </a:solidFill>
              </a:rPr>
              <a:t>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1B9CA"/>
                </a:solidFill>
              </a:rPr>
              <a:t>Data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377440" cy="20116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79" y="22402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B84DE6"/>
                </a:solidFill>
              </a:rPr>
              <a:t>Power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880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1B9CA"/>
                </a:solidFill>
              </a:rPr>
              <a:t>Transformation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2377440" cy="20116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ADE80"/>
                </a:solidFill>
              </a:rP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1B9CA"/>
                </a:solidFill>
              </a:rPr>
              <a:t>Dashboarding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828800"/>
            <a:ext cx="2377440" cy="20116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19" y="22402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</a:rPr>
              <a:t>DAX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880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1B9CA"/>
                </a:solidFill>
              </a:rPr>
              <a:t>Measures &amp;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0584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rPr dirty="0"/>
              <a:t>• The current implementation does not depend on SQL.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rPr dirty="0"/>
              <a:t>• Power BI provides interactive navigation, filters and visual analytics.</a:t>
            </a:r>
            <a:endParaRPr lang="en-US" dirty="0"/>
          </a:p>
          <a:p>
            <a:pPr>
              <a:spcAft>
                <a:spcPts val="1000"/>
              </a:spcAft>
              <a:buSzPct val="107000"/>
              <a:defRPr sz="1800">
                <a:solidFill>
                  <a:srgbClr val="F5F7FA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US" b="1" dirty="0"/>
              <a:t>Pandas &amp; NumPy — Used to verify data cleaning.</a:t>
            </a:r>
            <a:endParaRPr lang="en-US" dirty="0"/>
          </a:p>
          <a:p>
            <a:pPr>
              <a:spcAft>
                <a:spcPts val="1000"/>
              </a:spcAft>
              <a:buSzPct val="107000"/>
              <a:defRPr sz="1800">
                <a:solidFill>
                  <a:srgbClr val="F5F7FA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Key Results &amp;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Strongest evidence that the dashboard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05740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143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9047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842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Total Admissions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25880"/>
            <a:ext cx="205740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325880"/>
            <a:ext cx="54864" cy="1143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49047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9.5%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842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Occupancy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25880"/>
            <a:ext cx="205740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1325880"/>
            <a:ext cx="54864" cy="1143000"/>
          </a:xfrm>
          <a:prstGeom prst="rect">
            <a:avLst/>
          </a:prstGeom>
          <a:solidFill>
            <a:srgbClr val="B8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49047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27.0%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842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Readmission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25880"/>
            <a:ext cx="205740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3760" y="1325880"/>
            <a:ext cx="54864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149047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7.7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842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Avg Length of Stay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325880"/>
            <a:ext cx="205740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18320" y="1325880"/>
            <a:ext cx="54864" cy="1143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49047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$21.6M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842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Total Revenue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43200"/>
            <a:ext cx="5257800" cy="310896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9718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FC3F7"/>
                </a:solidFill>
                <a:latin typeface="Aptos Display"/>
              </a:rPr>
              <a:t>Hospital &amp; Patient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3611880"/>
            <a:ext cx="4617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Monthly admission trends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Discharge and patient-flow monitoring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Average stay analysis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Treatment and demographic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43200"/>
            <a:ext cx="5257800" cy="310896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29718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B84DE6"/>
                </a:solidFill>
                <a:latin typeface="Aptos Display"/>
              </a:rPr>
              <a:t>Department &amp; Resource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3611880"/>
            <a:ext cx="4617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Department volume and readmission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Efficiency comparison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Bed utilization and availability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Department-level bed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135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000" b="1" dirty="0">
                <a:solidFill>
                  <a:schemeClr val="bg2"/>
                </a:solidFill>
              </a:rPr>
              <a:t>Healthcare</a:t>
            </a:r>
            <a:r>
              <a:rPr lang="en-IN" sz="3200" b="1" dirty="0">
                <a:solidFill>
                  <a:schemeClr val="bg2"/>
                </a:solidFill>
              </a:rPr>
              <a:t> Analytics Dashboard</a:t>
            </a:r>
            <a:endParaRPr sz="3200" b="1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01610C-6233-8419-F5C0-EA28C2F72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374" y="1028346"/>
            <a:ext cx="8802328" cy="5058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E5991-5C40-E579-EAFD-857B0AAB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6A1BA-7682-4AA2-45F1-8BCA9845CA8F}"/>
              </a:ext>
            </a:extLst>
          </p:cNvPr>
          <p:cNvSpPr txBox="1"/>
          <p:nvPr/>
        </p:nvSpPr>
        <p:spPr>
          <a:xfrm>
            <a:off x="594360" y="320040"/>
            <a:ext cx="43438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</a:rPr>
              <a:t> Patient Flow Dashboard</a:t>
            </a:r>
            <a:endParaRPr sz="3200" b="1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AE737-A43D-DC7C-349B-F44500ED281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A1187-AE8F-9264-97F6-437F48D0F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37" y="966372"/>
            <a:ext cx="9268438" cy="528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98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D15E6-A750-5D9B-4803-1F86D3C2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4573E-A470-C78C-454D-4EFD86E27EAD}"/>
              </a:ext>
            </a:extLst>
          </p:cNvPr>
          <p:cNvSpPr txBox="1"/>
          <p:nvPr/>
        </p:nvSpPr>
        <p:spPr>
          <a:xfrm>
            <a:off x="594360" y="320040"/>
            <a:ext cx="548419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000" b="1" dirty="0">
                <a:solidFill>
                  <a:schemeClr val="bg2"/>
                </a:solidFill>
              </a:rPr>
              <a:t>Department Analytics Dashboard</a:t>
            </a:r>
            <a:endParaRPr sz="3000" b="1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C4908-3184-731C-B092-FF15B14428EB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BFBC6-B6E5-D448-8835-DC64C438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01" y="904815"/>
            <a:ext cx="9021739" cy="52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3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E02A8-D97B-FA7D-2688-4CC4A3CF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C89F1-4F8C-940E-0038-F6BD511A38E2}"/>
              </a:ext>
            </a:extLst>
          </p:cNvPr>
          <p:cNvSpPr txBox="1"/>
          <p:nvPr/>
        </p:nvSpPr>
        <p:spPr>
          <a:xfrm>
            <a:off x="594360" y="320040"/>
            <a:ext cx="519065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000" b="1" dirty="0">
                <a:solidFill>
                  <a:schemeClr val="bg2"/>
                </a:solidFill>
              </a:rPr>
              <a:t>Resource Utilization Dashboard</a:t>
            </a:r>
            <a:endParaRPr sz="3000" b="1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6CF61-6591-5AF7-ED9C-CCDA7D18D9F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5DE50-AA1A-39B3-600B-C1971FCB2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985" y="1028700"/>
            <a:ext cx="9715500" cy="51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9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46ED9-804C-38CF-B841-7B312BBA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ADA6B-C59D-396A-0FB2-B5EE552BE870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5F7FA"/>
                </a:solidFill>
                <a:latin typeface="Aptos Display"/>
              </a:rPr>
              <a:t>Challenges, Learnings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A7D09-C92E-0C3C-C2AB-26CEF1273DAC}"/>
              </a:ext>
            </a:extLst>
          </p:cNvPr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What I learned while turning raw records into an analytical product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AD96B7-FC6D-B0A2-7756-4D90397D9F15}"/>
              </a:ext>
            </a:extLst>
          </p:cNvPr>
          <p:cNvSpPr/>
          <p:nvPr/>
        </p:nvSpPr>
        <p:spPr>
          <a:xfrm>
            <a:off x="64008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2760E-8E24-CC37-4590-C51F009FE76E}"/>
              </a:ext>
            </a:extLst>
          </p:cNvPr>
          <p:cNvSpPr txBox="1"/>
          <p:nvPr/>
        </p:nvSpPr>
        <p:spPr>
          <a:xfrm>
            <a:off x="914400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4FC3F7"/>
                </a:solidFill>
                <a:latin typeface="Aptos Display"/>
              </a:rPr>
              <a:t>Challenges &amp; Learnings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8FE4F-9D57-7403-5734-11C0F1A141B5}"/>
              </a:ext>
            </a:extLst>
          </p:cNvPr>
          <p:cNvSpPr txBox="1"/>
          <p:nvPr/>
        </p:nvSpPr>
        <p:spPr>
          <a:xfrm>
            <a:off x="960119" y="2554624"/>
            <a:ext cx="46177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Cleaning inconsistent raw data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Handling missing values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Building reusable DAX measures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Designing useful, non-redundant visuals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Creating intuitive page navigation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5F1891-58F0-3F8D-634D-FA27CF4CAE7D}"/>
              </a:ext>
            </a:extLst>
          </p:cNvPr>
          <p:cNvSpPr/>
          <p:nvPr/>
        </p:nvSpPr>
        <p:spPr>
          <a:xfrm>
            <a:off x="6263640" y="1417320"/>
            <a:ext cx="5257800" cy="438912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284ED-71C3-1B7E-A809-03ECFCA0FD86}"/>
              </a:ext>
            </a:extLst>
          </p:cNvPr>
          <p:cNvSpPr txBox="1"/>
          <p:nvPr/>
        </p:nvSpPr>
        <p:spPr>
          <a:xfrm>
            <a:off x="6537959" y="16459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B84DE6"/>
                </a:solidFill>
                <a:latin typeface="Aptos Display"/>
              </a:rPr>
              <a:t>Current 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F263A-0F30-2746-5435-AAC34EA2EBFC}"/>
              </a:ext>
            </a:extLst>
          </p:cNvPr>
          <p:cNvSpPr txBox="1"/>
          <p:nvPr/>
        </p:nvSpPr>
        <p:spPr>
          <a:xfrm>
            <a:off x="6583679" y="2724912"/>
            <a:ext cx="46177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No staff allocation data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No equipment utilization data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Some resource insights are unavailable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rPr dirty="0"/>
              <a:t>• Efficiency score is project-defined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FE7BD-6C91-AA1A-59ED-53F8CFBB1CCD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</a:p>
        </p:txBody>
      </p:sp>
    </p:spTree>
    <p:extLst>
      <p:ext uri="{BB962C8B-B14F-4D97-AF65-F5344CB8AC3E}">
        <p14:creationId xmlns:p14="http://schemas.microsoft.com/office/powerpoint/2010/main" val="285464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1B9CA"/>
                </a:solidFill>
                <a:latin typeface="Aptos"/>
              </a:rPr>
              <a:t>MedTrack DV turns hospital records into an interactive decision-support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Centralizes hospital operations and patient analytics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Makes department and resource patterns easier to compare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Provides interactive KPI-driven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417320"/>
            <a:ext cx="466344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58191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4FC3F7"/>
                </a:solidFill>
              </a:rPr>
              <a:t>Staff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947672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9CA"/>
                </a:solidFill>
              </a:rPr>
              <a:t>Add staff allocation and workload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834640"/>
            <a:ext cx="466344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29992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4FC3F7"/>
                </a:solidFill>
              </a:rPr>
              <a:t>Equipment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364992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9CA"/>
                </a:solidFill>
              </a:rPr>
              <a:t>Track equipment availability and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251960"/>
            <a:ext cx="4663440" cy="109728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44165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4FC3F7"/>
                </a:solidFill>
              </a:rPr>
              <a:t>Advanced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782312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9CA"/>
                </a:solidFill>
              </a:rPr>
              <a:t>Forecast demand and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1B9CA"/>
                </a:solidFill>
                <a:latin typeface="Aptos"/>
              </a:rPr>
              <a:t>MedTrack DV  |  Healthcare Analytics Dashboard    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95831" y="3364992"/>
            <a:ext cx="3465574" cy="11430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dirty="0">
                <a:solidFill>
                  <a:srgbClr val="0C112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5F7FA"/>
                </a:solidFill>
              </a:rPr>
              <a:t>MedTrack 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4FC3F7"/>
                </a:solidFill>
              </a:rPr>
              <a:t>From raw healthcare data to actionable hospital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3337560"/>
            <a:ext cx="265176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3337560"/>
            <a:ext cx="54864" cy="1143000"/>
          </a:xfrm>
          <a:prstGeom prst="rect">
            <a:avLst/>
          </a:prstGeom>
          <a:solidFill>
            <a:srgbClr val="B84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350215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9959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Core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4617720"/>
            <a:ext cx="2651760" cy="1143000"/>
          </a:xfrm>
          <a:prstGeom prst="roundRect">
            <a:avLst/>
          </a:prstGeom>
          <a:solidFill>
            <a:srgbClr val="181F37"/>
          </a:solidFill>
          <a:ln>
            <a:solidFill>
              <a:srgbClr val="32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4617720"/>
            <a:ext cx="54864" cy="1143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4782312"/>
            <a:ext cx="53091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F5F7FA"/>
                </a:solidFill>
                <a:latin typeface="Aptos Display"/>
              </a:rPr>
              <a:t>6</a:t>
            </a:r>
            <a:r>
              <a:rPr lang="en-US" sz="2500" b="1" dirty="0">
                <a:solidFill>
                  <a:srgbClr val="F5F7FA"/>
                </a:solidFill>
                <a:latin typeface="Aptos Display"/>
              </a:rPr>
              <a:t>+</a:t>
            </a:r>
            <a:endParaRPr sz="2500" b="1" dirty="0">
              <a:solidFill>
                <a:srgbClr val="F5F7FA"/>
              </a:solidFill>
              <a:latin typeface="Aptos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41080" y="527608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9CA"/>
                </a:solidFill>
                <a:latin typeface="Aptos"/>
              </a:rPr>
              <a:t>Core KPI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9068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solidFill>
                  <a:srgbClr val="B1B9CA"/>
                </a:solidFill>
                <a:latin typeface="Aptos"/>
              </a:rPr>
              <a:t>MedTrack</a:t>
            </a:r>
            <a:r>
              <a:rPr sz="900" dirty="0">
                <a:solidFill>
                  <a:srgbClr val="B1B9CA"/>
                </a:solidFill>
                <a:latin typeface="Aptos"/>
              </a:rPr>
              <a:t> DV  |  Healthcare Analytics Dashboard     10</a:t>
            </a:r>
            <a:r>
              <a:rPr lang="en-US" sz="900" dirty="0">
                <a:solidFill>
                  <a:srgbClr val="B1B9CA"/>
                </a:solidFill>
                <a:latin typeface="Aptos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MOULIKA  RUDRARAJU</a:t>
            </a:r>
            <a:endParaRPr sz="900" dirty="0">
              <a:solidFill>
                <a:srgbClr val="B1B9CA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642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harika rudraraju</cp:lastModifiedBy>
  <cp:revision>8</cp:revision>
  <dcterms:created xsi:type="dcterms:W3CDTF">2013-01-27T09:14:16Z</dcterms:created>
  <dcterms:modified xsi:type="dcterms:W3CDTF">2026-08-19T17:01:38Z</dcterms:modified>
  <cp:category/>
</cp:coreProperties>
</file>